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" y="6355080"/>
            <a:ext cx="10744200" cy="0"/>
          </a:xfrm>
          <a:prstGeom prst="line">
            <a:avLst/>
          </a:prstGeom>
          <a:noFill/>
          <a:ln w="10160">
            <a:solidFill>
              <a:srgbClr val="D9D9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C0C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0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393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 Academy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spc="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IA APLICADA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22128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312724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que colaboram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4590288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agentes descobrem capacidades, delegam tarefas e trocam resultados.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0" y="0"/>
            <a:ext cx="1920240" cy="6858000"/>
          </a:xfrm>
          <a:prstGeom prst="line">
            <a:avLst/>
          </a:prstGeom>
          <a:noFill/>
          <a:ln w="15240">
            <a:solidFill>
              <a:srgbClr val="A7A1FF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0"/>
            <a:ext cx="2468880" cy="6858000"/>
          </a:xfrm>
          <a:prstGeom prst="line">
            <a:avLst/>
          </a:prstGeom>
          <a:noFill/>
          <a:ln w="15240">
            <a:solidFill>
              <a:srgbClr val="A7A1FF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1737360"/>
            <a:ext cx="1645920" cy="2560320"/>
          </a:xfrm>
          <a:prstGeom prst="line">
            <a:avLst/>
          </a:prstGeom>
          <a:noFill/>
          <a:ln w="15240">
            <a:solidFill>
              <a:srgbClr val="A7A1FF">
                <a:alpha val="6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16768" y="62727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68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problema à colaboração entre agentes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16916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16733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agente?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823960" y="16916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VS. CHATBOT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749808" y="2112264"/>
            <a:ext cx="10744200" cy="0"/>
          </a:xfrm>
          <a:prstGeom prst="line">
            <a:avLst/>
          </a:prstGeom>
          <a:noFill/>
          <a:ln w="12700">
            <a:solidFill>
              <a:srgbClr val="D9D9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35000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331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um agente precisa de outro?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823960" y="23500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MULTI-AGENTE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749808" y="2770632"/>
            <a:ext cx="10744200" cy="0"/>
          </a:xfrm>
          <a:prstGeom prst="line">
            <a:avLst/>
          </a:prstGeom>
          <a:noFill/>
          <a:ln w="12700">
            <a:solidFill>
              <a:srgbClr val="D9D9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00837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29900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30083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INTEROPERABILIDADE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49808" y="3429000"/>
            <a:ext cx="10744200" cy="0"/>
          </a:xfrm>
          <a:prstGeom prst="line">
            <a:avLst/>
          </a:prstGeom>
          <a:noFill/>
          <a:ln w="12700">
            <a:solidFill>
              <a:srgbClr val="D9D9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366674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36484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conversa acontece?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3666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• MESSAGES • ARTIFACTS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749808" y="4087368"/>
            <a:ext cx="10744200" cy="0"/>
          </a:xfrm>
          <a:prstGeom prst="line">
            <a:avLst/>
          </a:prstGeom>
          <a:noFill/>
          <a:ln w="12700">
            <a:solidFill>
              <a:srgbClr val="D9D9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43251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53312" y="43068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× MCP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43251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↔ AGENTE / AGENTE ↔ FERRAMENTA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749808" y="4745736"/>
            <a:ext cx="10744200" cy="0"/>
          </a:xfrm>
          <a:prstGeom prst="line">
            <a:avLst/>
          </a:prstGeom>
          <a:noFill/>
          <a:ln w="12700">
            <a:solidFill>
              <a:srgbClr val="D9D9D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41732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7673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agente?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4572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DO A2A, PRECISAMOS DEFINIR O QUE ESTÁ SE COMUNICANDO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C0C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33856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agente recebe um objetivo e age sobre o ambiente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49808" y="2176272"/>
            <a:ext cx="324612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5915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87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06624"/>
            <a:ext cx="28254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contexto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71416" y="2176272"/>
            <a:ext cx="3246120" cy="1828800"/>
          </a:xfrm>
          <a:prstGeom prst="roundRect">
            <a:avLst>
              <a:gd name="adj" fmla="val 9000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81728" y="235915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87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2706624"/>
            <a:ext cx="28254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escolhe ações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93024" y="2176272"/>
            <a:ext cx="324612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3336" y="235915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endParaRPr lang="en-US" sz="87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2706624"/>
            <a:ext cx="28254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sistemas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041648" y="3090672"/>
            <a:ext cx="365760" cy="0"/>
          </a:xfrm>
          <a:prstGeom prst="line">
            <a:avLst/>
          </a:prstGeom>
          <a:noFill/>
          <a:ln w="2540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63256" y="3090672"/>
            <a:ext cx="365760" cy="0"/>
          </a:xfrm>
          <a:prstGeom prst="line">
            <a:avLst/>
          </a:prstGeom>
          <a:noFill/>
          <a:ln w="2540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68096" y="45994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2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 O RESULTADO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4526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ajusta → tenta novamente → conclui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9808" y="5230368"/>
            <a:ext cx="10698480" cy="548640"/>
          </a:xfrm>
          <a:prstGeom prst="roundRect">
            <a:avLst>
              <a:gd name="adj" fmla="val 30000"/>
            </a:avLst>
          </a:prstGeom>
          <a:solidFill>
            <a:srgbClr val="ECEBFA"/>
          </a:solidFill>
          <a:ln w="10160">
            <a:solidFill>
              <a:srgbClr val="ECE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5376672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≠ apenas texto gerado. O diferencial é a capacidade de decidir e executar ações orientadas a um objetivo.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DISTINÇÃO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1556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responde. Agente persegue um objetivo.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" y="2148840"/>
            <a:ext cx="516636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31720"/>
            <a:ext cx="4745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87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79192"/>
            <a:ext cx="474573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Reage à mensagem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Gera uma resposta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Fluxo curto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Baixa autonomia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2784" y="2148840"/>
            <a:ext cx="5166360" cy="2880360"/>
          </a:xfrm>
          <a:prstGeom prst="roundRect">
            <a:avLst>
              <a:gd name="adj" fmla="val 5714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3096" y="2331720"/>
            <a:ext cx="4745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87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679192"/>
            <a:ext cx="474573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Interpreta um objetivo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Planeja etapas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Usa ferramentas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Observa resultados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Pode delegar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5349240"/>
            <a:ext cx="10698480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5495544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Pergunta-chave: “Quem decide o próximo passo?”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41732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7673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um agente precisa de outro?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4572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APARECE QUANDO UMA TAREFA COMBINA ESPECIALISTAS DIFERENTES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C0C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MULTI-AGENTE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3385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Dividir para especializar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86537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agente pode coordenar um trabalho maior sem executar todas as capacidades sozinho.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35424" y="2587752"/>
            <a:ext cx="3154680" cy="969264"/>
          </a:xfrm>
          <a:prstGeom prst="roundRect">
            <a:avLst>
              <a:gd name="adj" fmla="val 16981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0" y="288950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ORQUESTRADOR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" y="4572000"/>
            <a:ext cx="283464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" y="4754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50109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 síntese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99048" y="3547872"/>
            <a:ext cx="-3895344" cy="960120"/>
          </a:xfrm>
          <a:prstGeom prst="line">
            <a:avLst/>
          </a:prstGeom>
          <a:noFill/>
          <a:ln w="1651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42232" y="4572000"/>
            <a:ext cx="283464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06824" y="4754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Finanças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306824" y="50109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e regras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48" y="3547872"/>
            <a:ext cx="-539496" cy="960120"/>
          </a:xfrm>
          <a:prstGeom prst="line">
            <a:avLst/>
          </a:prstGeom>
          <a:noFill/>
          <a:ln w="1651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0" y="4572000"/>
            <a:ext cx="283464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62672" y="4754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662672" y="50109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 específico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9048" y="3547872"/>
            <a:ext cx="2816352" cy="960120"/>
          </a:xfrm>
          <a:prstGeom prst="line">
            <a:avLst/>
          </a:prstGeom>
          <a:noFill/>
          <a:ln w="1651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" y="5650992"/>
            <a:ext cx="10698480" cy="457200"/>
          </a:xfrm>
          <a:prstGeom prst="roundRect">
            <a:avLst>
              <a:gd name="adj" fmla="val 36000"/>
            </a:avLst>
          </a:prstGeom>
          <a:solidFill>
            <a:srgbClr val="ECEBFA"/>
          </a:solidFill>
          <a:ln w="10160">
            <a:solidFill>
              <a:srgbClr val="ECEB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5769864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surge a pergunta: como esses agentes se encontram e se entendem?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GARGALO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155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um padrão, a colaboração vira integração artesanal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49808" y="2212848"/>
            <a:ext cx="251460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9572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A</a:t>
            </a:r>
            <a:endParaRPr lang="en-US" sz="87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2093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próprio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20440" y="2212848"/>
            <a:ext cx="251460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30752" y="239572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B</a:t>
            </a:r>
            <a:endParaRPr lang="en-US" sz="870" dirty="0"/>
          </a:p>
        </p:txBody>
      </p:sp>
      <p:sp>
        <p:nvSpPr>
          <p:cNvPr id="9" name="Text 7"/>
          <p:cNvSpPr txBox="1"/>
          <p:nvPr/>
        </p:nvSpPr>
        <p:spPr>
          <a:xfrm>
            <a:off x="3730752" y="2743200"/>
            <a:ext cx="2093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específica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91072" y="2212848"/>
            <a:ext cx="251460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1384" y="239572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C</a:t>
            </a:r>
            <a:endParaRPr lang="en-US" sz="870" dirty="0"/>
          </a:p>
        </p:txBody>
      </p:sp>
      <p:sp>
        <p:nvSpPr>
          <p:cNvPr id="12" name="Text 10"/>
          <p:cNvSpPr txBox="1"/>
          <p:nvPr/>
        </p:nvSpPr>
        <p:spPr>
          <a:xfrm>
            <a:off x="6501384" y="2743200"/>
            <a:ext cx="2093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proprietário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61704" y="2212848"/>
            <a:ext cx="251460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72016" y="239572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</a:t>
            </a:r>
            <a:endParaRPr lang="en-US" sz="87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2743200"/>
            <a:ext cx="2093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 framework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096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 de agentes precisa conhecer detalhes do outro.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773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736592"/>
            <a:ext cx="7955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acoplamento • duplicação • baixa interoperabilidade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9808" y="5504688"/>
            <a:ext cx="10698480" cy="475488"/>
          </a:xfrm>
          <a:prstGeom prst="roundRect">
            <a:avLst>
              <a:gd name="adj" fmla="val 34615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62356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propõe uma linguagem comum para agentes independentes colaborarem.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41732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7673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4572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PADRÃO ABERTO PARA INTEROPERABILIDADE ENTRE AGENTES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C0C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1556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= Agent2Agent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865376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padrão aberto para que agentes independentes descubram capacidades, troquem mensagens e gerenciem tarefas sem expor sua implementação interna.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" y="2999232"/>
            <a:ext cx="3246120" cy="1664208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18211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DESCOBRIR</a:t>
            </a:r>
            <a:endParaRPr lang="en-US" sz="87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529584"/>
            <a:ext cx="28254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que você sabe fazer?”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71416" y="2999232"/>
            <a:ext cx="3246120" cy="1664208"/>
          </a:xfrm>
          <a:prstGeom prst="roundRect">
            <a:avLst>
              <a:gd name="adj" fmla="val 9890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81728" y="318211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DELEGAR</a:t>
            </a:r>
            <a:endParaRPr lang="en-US" sz="87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3529584"/>
            <a:ext cx="28254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“Execute esta tarefa.”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93024" y="2999232"/>
            <a:ext cx="3246120" cy="1664208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3336" y="318211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RECEBER</a:t>
            </a:r>
            <a:endParaRPr lang="en-US" sz="870" dirty="0"/>
          </a:p>
        </p:txBody>
      </p:sp>
      <p:sp>
        <p:nvSpPr>
          <p:cNvPr id="13" name="Text 11"/>
          <p:cNvSpPr txBox="1"/>
          <p:nvPr/>
        </p:nvSpPr>
        <p:spPr>
          <a:xfrm>
            <a:off x="8403336" y="3529584"/>
            <a:ext cx="28254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“Aqui está o resultado.”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41648" y="3822192"/>
            <a:ext cx="384048" cy="0"/>
          </a:xfrm>
          <a:prstGeom prst="line">
            <a:avLst/>
          </a:prstGeom>
          <a:noFill/>
          <a:ln w="2286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63256" y="3822192"/>
            <a:ext cx="384048" cy="0"/>
          </a:xfrm>
          <a:prstGeom prst="line">
            <a:avLst/>
          </a:prstGeom>
          <a:noFill/>
          <a:ln w="2286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" y="5166360"/>
            <a:ext cx="10698480" cy="621792"/>
          </a:xfrm>
          <a:prstGeom prst="roundRect">
            <a:avLst>
              <a:gd name="adj" fmla="val 26471"/>
            </a:avLst>
          </a:prstGeom>
          <a:solidFill>
            <a:srgbClr val="ECEBFA"/>
          </a:solidFill>
          <a:ln w="10160">
            <a:solidFill>
              <a:srgbClr val="ECE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5321808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remoto pode continuar sendo uma “caixa-preta”: o cliente não precisa conhecer seus modelos, ferramentas ou memória.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6163056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A2A Protocol — especificação v1.0.0 (documentação oficial).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• DISCOVERY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1556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conversar, descubra o agente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8470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 Card descreve a identidade e as capacidades oferecidas pelo agente.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2432304"/>
            <a:ext cx="4663440" cy="26060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26791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5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CARD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072384"/>
            <a:ext cx="3977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"Travel Agent"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"Planeja viagens"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buscar_voo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comparar_hotel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montar_roteiro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06440" y="2432304"/>
            <a:ext cx="5641848" cy="2606040"/>
          </a:xfrm>
          <a:prstGeom prst="roundRect">
            <a:avLst>
              <a:gd name="adj" fmla="val 6316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80760" y="2697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3145536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“Você consegue fazer isso?”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3931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descobre capacidades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decide se vale delegar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6163056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A2A Protocol v1.0.0 — Agent Card / AgentCard.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• INTERACTION MODEL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1556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unidade de trabalho é a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" y="2240280"/>
            <a:ext cx="3246120" cy="13167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45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27980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instrui / atualiza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7408" y="2240280"/>
            <a:ext cx="3246120" cy="1316736"/>
          </a:xfrm>
          <a:prstGeom prst="roundRect">
            <a:avLst>
              <a:gd name="adj" fmla="val 12500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8576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08576" y="27980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 o trabalho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5008" y="2240280"/>
            <a:ext cx="3246120" cy="13167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45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7980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o resultado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32504" y="2898648"/>
            <a:ext cx="329184" cy="0"/>
          </a:xfrm>
          <a:prstGeom prst="line">
            <a:avLst/>
          </a:prstGeom>
          <a:noFill/>
          <a:ln w="2159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80960" y="2898648"/>
            <a:ext cx="329184" cy="0"/>
          </a:xfrm>
          <a:prstGeom prst="line">
            <a:avLst/>
          </a:prstGeom>
          <a:noFill/>
          <a:ln w="2159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49808" y="4151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ciclo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5902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“Busque um hotel em São Paulo”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416552" y="4736592"/>
            <a:ext cx="566928" cy="0"/>
          </a:xfrm>
          <a:prstGeom prst="line">
            <a:avLst/>
          </a:prstGeom>
          <a:noFill/>
          <a:ln w="2159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102352" y="4590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working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40880" y="4736592"/>
            <a:ext cx="566928" cy="0"/>
          </a:xfrm>
          <a:prstGeom prst="line">
            <a:avLst/>
          </a:prstGeom>
          <a:noFill/>
          <a:ln w="2159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726680" y="45902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ARTIFACT: opções.json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9808" y="5303520"/>
            <a:ext cx="10698480" cy="475488"/>
          </a:xfrm>
          <a:prstGeom prst="roundRect">
            <a:avLst>
              <a:gd name="adj" fmla="val 34615"/>
            </a:avLst>
          </a:prstGeom>
          <a:solidFill>
            <a:srgbClr val="ECEBFA"/>
          </a:solidFill>
          <a:ln w="10160">
            <a:solidFill>
              <a:srgbClr val="ECEB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8408" y="5422392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 carregam comunicação; o resultado da tarefa pode ser entregue como Artifact.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6163056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A2A Protocol v1.0.0 — Messages, Tasks e Artifacts.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• LIFECYCLE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155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Task tem estado — não é só uma requisição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49808" y="2331720"/>
            <a:ext cx="23317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578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27248" y="2898648"/>
            <a:ext cx="320040" cy="0"/>
          </a:xfrm>
          <a:prstGeom prst="line">
            <a:avLst/>
          </a:prstGeom>
          <a:noFill/>
          <a:ln w="1778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93008" y="2331720"/>
            <a:ext cx="23317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578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926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processando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70448" y="2898648"/>
            <a:ext cx="320040" cy="0"/>
          </a:xfrm>
          <a:prstGeom prst="line">
            <a:avLst/>
          </a:prstGeom>
          <a:noFill/>
          <a:ln w="1778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36208" y="2331720"/>
            <a:ext cx="23317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578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input-required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926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 de informação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13648" y="2898648"/>
            <a:ext cx="320040" cy="0"/>
          </a:xfrm>
          <a:prstGeom prst="line">
            <a:avLst/>
          </a:prstGeom>
          <a:noFill/>
          <a:ln w="1778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79408" y="2331720"/>
            <a:ext cx="2331720" cy="1143000"/>
          </a:xfrm>
          <a:prstGeom prst="roundRect">
            <a:avLst>
              <a:gd name="adj" fmla="val 14400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0" y="2578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926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pronto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0050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permite tarefas longas, assíncronas e com atualizações de progresso.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9808" y="4626864"/>
            <a:ext cx="324612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809744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87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5157216"/>
            <a:ext cx="2825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atualizações em tempo real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71416" y="4626864"/>
            <a:ext cx="324612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81728" y="4809744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870" dirty="0"/>
          </a:p>
        </p:txBody>
      </p:sp>
      <p:sp>
        <p:nvSpPr>
          <p:cNvPr id="25" name="Text 23"/>
          <p:cNvSpPr txBox="1"/>
          <p:nvPr/>
        </p:nvSpPr>
        <p:spPr>
          <a:xfrm>
            <a:off x="4681728" y="5157216"/>
            <a:ext cx="2825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notificação para tarefas longas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193024" y="4626864"/>
            <a:ext cx="324612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03336" y="4809744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/ RESUME</a:t>
            </a:r>
            <a:endParaRPr lang="en-US" sz="870" dirty="0"/>
          </a:p>
        </p:txBody>
      </p:sp>
      <p:sp>
        <p:nvSpPr>
          <p:cNvPr id="28" name="Text 26"/>
          <p:cNvSpPr txBox="1"/>
          <p:nvPr/>
        </p:nvSpPr>
        <p:spPr>
          <a:xfrm>
            <a:off x="8403336" y="5157216"/>
            <a:ext cx="2825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o mesmo trabalho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6163056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A2A Protocol v1.0.0 — Task lifecycle e streaming.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41732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7673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agentes conversam?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4572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ORGANIZA DESCOBERTA, INTERAÇÃO, ESTADO E ENTREGA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C0C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155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remoto continua independente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2304288"/>
            <a:ext cx="2880360" cy="235915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5877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4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CLIENTE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26664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ferramentas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estado local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041648" y="2962656"/>
            <a:ext cx="4069080" cy="1060704"/>
          </a:xfrm>
          <a:prstGeom prst="roundRect">
            <a:avLst>
              <a:gd name="adj" fmla="val 15517"/>
            </a:avLst>
          </a:prstGeom>
          <a:solidFill>
            <a:srgbClr val="ECEBFA"/>
          </a:solidFill>
          <a:ln w="10160">
            <a:solidFill>
              <a:srgbClr val="ECE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0520" y="32278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32369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HTTP(S) • mensagens • tasks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0" y="2304288"/>
            <a:ext cx="2944368" cy="2359152"/>
          </a:xfrm>
          <a:prstGeom prst="roundRect">
            <a:avLst>
              <a:gd name="adj" fmla="val 6977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50808" y="25877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REMOTO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750808" y="3026664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“caixa-preta”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tools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dados próprios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675888" y="3493008"/>
            <a:ext cx="365760" cy="0"/>
          </a:xfrm>
          <a:prstGeom prst="line">
            <a:avLst/>
          </a:prstGeom>
          <a:noFill/>
          <a:ln w="2540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493008"/>
            <a:ext cx="365760" cy="0"/>
          </a:xfrm>
          <a:prstGeom prst="line">
            <a:avLst/>
          </a:prstGeom>
          <a:noFill/>
          <a:ln w="25400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" y="5230368"/>
            <a:ext cx="1069848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5376672"/>
            <a:ext cx="10195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conhece o contrato de interação — não a implementação interna do agente remoto.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6163056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A2A Protocol v1.0.0 — interoperabilidade entre agentes independentes.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COMPARAÇÃO QUE MAIS GERA DÚVIDA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155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× MCP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49808" y="2212848"/>
            <a:ext cx="5166360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95728"/>
            <a:ext cx="4745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87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47457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↔ FERRAMENTA / CONTEXTO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Ex.: banco, API, arquivo, sistema interno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Foco: fornecer capacidades e contexto ao agente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2784" y="2212848"/>
            <a:ext cx="5166360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3096" y="2395728"/>
            <a:ext cx="4745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</a:t>
            </a:r>
            <a:endParaRPr lang="en-US" sz="87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743200"/>
            <a:ext cx="47457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↔ AGENTE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Ex.: agente financeiro, agente de viagens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Foco: descoberta, delegação e colaboração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5138928"/>
            <a:ext cx="10698480" cy="530352"/>
          </a:xfrm>
          <a:prstGeom prst="roundRect">
            <a:avLst>
              <a:gd name="adj" fmla="val 31034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5285232"/>
            <a:ext cx="10195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assim: MCP conecta o agente ao que ele usa. A2A conecta o agente a quem ele colabora.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PRÁTICO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1556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“Planeje uma viagem para São Paulo”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8470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único pedido pode virar várias tarefas especializadas.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407408" y="2331720"/>
            <a:ext cx="3383280" cy="822960"/>
          </a:xfrm>
          <a:prstGeom prst="roundRect">
            <a:avLst>
              <a:gd name="adj" fmla="val 20000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63440" y="259689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ORQUESTRADOR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4041648"/>
            <a:ext cx="320040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43251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6177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opções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99048" y="3154680"/>
            <a:ext cx="-3749040" cy="868680"/>
          </a:xfrm>
          <a:prstGeom prst="line">
            <a:avLst/>
          </a:prstGeom>
          <a:noFill/>
          <a:ln w="15875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53128" y="4041648"/>
            <a:ext cx="320040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36008" y="43251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46177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preços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48" y="3154680"/>
            <a:ext cx="-45720" cy="868680"/>
          </a:xfrm>
          <a:prstGeom prst="line">
            <a:avLst/>
          </a:prstGeom>
          <a:noFill/>
          <a:ln w="15875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56448" y="4041648"/>
            <a:ext cx="320040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9328" y="43251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46177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estimar deslocamento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9048" y="3154680"/>
            <a:ext cx="3657600" cy="868680"/>
          </a:xfrm>
          <a:prstGeom prst="line">
            <a:avLst/>
          </a:prstGeom>
          <a:noFill/>
          <a:ln w="15875">
            <a:solidFill>
              <a:srgbClr val="3000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" y="5449824"/>
            <a:ext cx="10698480" cy="493776"/>
          </a:xfrm>
          <a:prstGeom prst="roundRect">
            <a:avLst>
              <a:gd name="adj" fmla="val 33333"/>
            </a:avLst>
          </a:prstGeom>
          <a:solidFill>
            <a:srgbClr val="ECEBFA"/>
          </a:solidFill>
          <a:ln w="10160">
            <a:solidFill>
              <a:srgbClr val="ECEB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5568696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orquestrador não precisa saber como cada especialista calcula seu resultado.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MÁGICA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1556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resolve interoperabilidade — não resolve todos os problemas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" y="2267712"/>
            <a:ext cx="3246120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45059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87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98064"/>
            <a:ext cx="2825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pode delegar o quê?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7408" y="2267712"/>
            <a:ext cx="3246120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45059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</a:t>
            </a:r>
            <a:endParaRPr lang="en-US" sz="87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798064"/>
            <a:ext cx="2825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validar o resultado?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65008" y="2267712"/>
            <a:ext cx="3246120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45059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</a:t>
            </a:r>
            <a:endParaRPr lang="en-US" sz="87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798064"/>
            <a:ext cx="2825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agentes = mais chamadas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" y="3685032"/>
            <a:ext cx="3246120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86791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</a:t>
            </a:r>
            <a:endParaRPr lang="en-US" sz="87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215384"/>
            <a:ext cx="2825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etapas podem atrasar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07408" y="3685032"/>
            <a:ext cx="3246120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0160">
            <a:solidFill>
              <a:srgbClr val="D9D9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386791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30" kern="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</a:t>
            </a:r>
            <a:endParaRPr lang="en-US" sz="87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215384"/>
            <a:ext cx="2825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rastrear a cadeia?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9808" y="5321808"/>
            <a:ext cx="10698480" cy="530352"/>
          </a:xfrm>
          <a:prstGeom prst="roundRect">
            <a:avLst>
              <a:gd name="adj" fmla="val 31034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5468112"/>
            <a:ext cx="10195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de arquitetura deixa de ser “qual agente?” e passa a ser “qual colaboração vale a pena?”</a:t>
            </a:r>
            <a:endParaRPr lang="en-US" sz="14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804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</a:t>
            </a:r>
            <a:endParaRPr lang="en-US" sz="92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11556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Desenhe seu primeiro sistema multi-agente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85623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E6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Cenário: um sistema de atendimento para uma empresa de tecnologia.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2487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24688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agentes existem?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2871216"/>
            <a:ext cx="7955280" cy="0"/>
          </a:xfrm>
          <a:prstGeom prst="line">
            <a:avLst/>
          </a:prstGeom>
          <a:noFill/>
          <a:ln w="12700">
            <a:solidFill>
              <a:srgbClr val="D9D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0906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agente orquestra?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9808" y="3493008"/>
            <a:ext cx="7955280" cy="0"/>
          </a:xfrm>
          <a:prstGeom prst="line">
            <a:avLst/>
          </a:prstGeom>
          <a:noFill/>
          <a:ln w="12700">
            <a:solidFill>
              <a:srgbClr val="D9D9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3730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7124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cada agente recebe uma Task?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114800"/>
            <a:ext cx="7955280" cy="0"/>
          </a:xfrm>
          <a:prstGeom prst="line">
            <a:avLst/>
          </a:prstGeom>
          <a:noFill/>
          <a:ln w="12700">
            <a:solidFill>
              <a:srgbClr val="D9D9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43525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33425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Message? O que é Artifact?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9808" y="4736592"/>
            <a:ext cx="7955280" cy="0"/>
          </a:xfrm>
          <a:prstGeom prst="line">
            <a:avLst/>
          </a:prstGeom>
          <a:noFill/>
          <a:ln w="12700">
            <a:solidFill>
              <a:srgbClr val="D9D9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49743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560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informação aparece no Agent Card?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9808" y="5358384"/>
            <a:ext cx="7955280" cy="0"/>
          </a:xfrm>
          <a:prstGeom prst="line">
            <a:avLst/>
          </a:prstGeom>
          <a:noFill/>
          <a:ln w="12700">
            <a:solidFill>
              <a:srgbClr val="D9D9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2487168"/>
            <a:ext cx="2487168" cy="2971800"/>
          </a:xfrm>
          <a:prstGeom prst="roundRect">
            <a:avLst>
              <a:gd name="adj" fmla="val 6618"/>
            </a:avLst>
          </a:prstGeom>
          <a:solidFill>
            <a:srgbClr val="0A0A14"/>
          </a:solidFill>
          <a:ln w="10160">
            <a:solidFill>
              <a:srgbClr val="0A0A1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53728" y="28163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3310128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Justifique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cada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existe.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C7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914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30" kern="0" dirty="0">
                <a:solidFill>
                  <a:srgbClr val="3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 central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508760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não precisam</a:t>
            </a:r>
            <a:endParaRPr lang="en-US" sz="4100" dirty="0"/>
          </a:p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tudo sozinhos.</a:t>
            </a:r>
            <a:endParaRPr lang="en-US" sz="41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24612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E6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A2A, eles podem descobrir capacidades,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E6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delegar trabalho e trocar resultados.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" y="4754880"/>
            <a:ext cx="4892040" cy="640080"/>
          </a:xfrm>
          <a:prstGeom prst="roundRect">
            <a:avLst>
              <a:gd name="adj" fmla="val 25714"/>
            </a:avLst>
          </a:prstGeom>
          <a:solidFill>
            <a:srgbClr val="3000FF"/>
          </a:solidFill>
          <a:ln w="10160">
            <a:solidFill>
              <a:srgbClr val="300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956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 →  AGENTE  →  RESULTADO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59253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FC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técnica: A2A Protocol v1.0.0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FC0CD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Inteli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A2A — Agentes que colaboram</dc:title>
  <dc:subject>Aula sobre A2A (Agent2Agent)</dc:subject>
  <dc:creator>Inteli Academy</dc:creator>
  <cp:lastModifiedBy>Inteli Academy</cp:lastModifiedBy>
  <cp:revision>1</cp:revision>
  <dcterms:created xsi:type="dcterms:W3CDTF">2026-08-26T22:59:50Z</dcterms:created>
  <dcterms:modified xsi:type="dcterms:W3CDTF">2026-08-26T22:59:50Z</dcterms:modified>
</cp:coreProperties>
</file>